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Study of E-Learning Systems and Their Impact on Student Performance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Sachin Singh (2210992203) | Ronit Sharma (2210992185) | </a:t>
            </a: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 Rathor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(2210991385) | Porush Yadav (2210992047)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7CE6C24-9B6E-4791-A33E-57DBC9C2BBB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E-learning has become a crucial component of modern education, especially highlighted during the COVID-19 pandemic.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 can access education from anywhere in the world with just an internet connection.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Popular platforms such as Vedantu and Unacademy provide live and recorded video lectures, downloadable study materials, assignments, and 24×7 teacher support.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study investigates three key aspects: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learning experiences of students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Academic performance of students using online learning platforms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Levels of student engagement on online platforms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mixed-method approach was used, combining quantitative questionnaire data and qualitative secondary research.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of E-Learning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</a:rPr>
              <a:t>13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term “e-learning” was coined by Elliot Masie at the TechLearn Conference in 1999 — the first professional use of the term.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roots of computer-assisted learning go back to the 1960s — Stanford professors used computers and teleprinters to teach arithmetic and spelling to elementary students.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1960, the University of Illinois created an intranet allowing students to access course materials and recorded lectures through linked terminals.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the mid-1980s, many college libraries enabled students to access course content from library terminals.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E-learning rapidly evolved with the popularization of the internet, finding application in education, business, and military training.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modern trends include: Blended Learning, Micro Learning, Gamification, Personalized Learning, and Massive Open Online Courses (MOOCs).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COVID-19 pandemic dramatically accelerated the global shift toward digital learning platforms, underscoring their role in ensuring educational continuity.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D500944-836A-4F04-8C94-71C0C0DAB41D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Bhuasiri et al. (2012): In developing countries, the most significant factors for e-learning success include technology awareness, improved attitudes, quality content, and strong university support.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Trucano et al. (2012): Students show familiarity with web, computer, and mobile technologies, using them for both educational purposes and social networking.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Wu, Tennyson &amp; Hsia (2010): Positive learning climate and performance expectations are the greatest contributors to student satisfaction in e-learning.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 &amp; Huang (2012): Understanding student attitudes helps expand e-learning system functions and increases the overall impact on learning.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Aixia &amp; Wang (2011): 83.8% of variance in student attitude toward e-learning was explained by perceived satisfaction, beliefs, and platform experience.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McClelland (1961): Achievement motivation is positively correlated (0.23–0.33) with academic grades, establishing a link between motivation and academic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consistently supports that user-friendly platforms with high-quality content lead to better student engagement and academic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CD56536-361E-4CAC-BF96-4A6ABC866305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Design: Mixed-method approach — combining quantitative (numerical) and qualitative (opinion-based) data for a comprehensive understanding.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Data Collection: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 Forms questionnaire distributed to college and school students via WhatsApp groups and college email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~5 key questions on platform usage frequency, comfort level, problems faced, and impact on academic marks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Data Sources: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papers, journal articles, and reports on e-learning and student performance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to validate and compare survey results with existing findings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Analysis: Percentage-based analysis of responses for each question; qualitative pattern recognition from open-ended answers.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 Areas: Flexibility, access to materials, student engagement, satisfaction, and overall academic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Model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E11CB79-2DE2-489F-9E7E-6334CB99F02C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model shows that e-learning does not work in isolation — its success depends on multiple interconnected factors.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Flow: E-Learning System → Learning Flexibility → Student Engagement → Student Performance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E-Learning System Factors: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Ease of use of the platform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Easy access to quality study materials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 and relevance of content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 mediums available (live classes, forums, messaging)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Engagement Factors: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Active participation in quizzes and assignments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Regular watching of video lectures and note-taking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Doubt-clearing interactions with teachers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A good platform leads to more participation, which leads to better academic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Academic Performance Indicators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FE3F6DD-3785-49AB-97ED-9E78AD9161E5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performance in e-learning can be measured through four key signs: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assignments completed on time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Scores in online quizzes and test assessments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Active participation and interaction with teachers on the platform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marks obtained through online study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Drivers: Short and engaging video content, quizzes, comprehensive chapter notes, and interactive features keep students motivated.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content is boring or non-interactive, students lose interest quickly — platform design is critical to sustained performance.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Two-Factor Performance Equation: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 1 — Good, easy-to-use platform with quality content = Higher engagement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 2 — Active participation = Automatically improved marks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e-learning platforms provide easy access to lectures, study material, and useful content, students stay active and learn more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Survey Analysis — Key Findings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C2613C9-2CDE-4297-8421-B896F1B89985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Survey conducted via Google Forms with college and school students to understand real e-learning experiences and challenges.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Positive Findings: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78% gave positive feedback on accessibility of learning materials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72% were positive about flexibility in learning timings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70% appreciated the use of videos and recorded lectures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66% felt e-learning had a positive impact on academic performance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Challenging Areas: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Only 40% gave positive feedback on technical issues — 38% reported difficulties like slow internet and login problems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Only 65% were satisfied with teacher interaction; many skipped doubt-clearing sessions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62% reported active participation; 17% found it hard to focus for long hours on screen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Overall Satisfaction: 68% were satisfied with e-learning platforms overall.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Survey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B981EA0-2D8B-4F7D-81ED-04E41C1C6CF1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Summary of Student Responses on E-Learning System Usage: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Accessibility of Learning Materials: Positive 78% | Neutral 12% | Negative 10%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Flexibility in Learning Timing: Positive 72% | Neutral 15% | Negative 13%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 with Teachers: Positive 65% | Neutral 18% | Negative 17%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of Videos and Lectures: Positive 70% | Neutral 16% | Negative 14%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Satisfaction with E-Learning Platforms: Positive 68% | Neutral 20% | Negative 12%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Issues During Online Learning: Positive 40% | Neutral 22% | Negative 38%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 Participation During Online Classes: Positive 62% | Neutral 21% | Negative 17%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Effect on Academic Performance: Positive 66% | Neutral 19% | Negative 15%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Observation: Technical issues received the highest negative response (38%), indicating infrastructure is the biggest barrier to effective e-learning.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Advantages &amp; Challenges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51490BF-0161-42AC-9ED5-A7A3AF425D6F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Advantages of E-Learning Systems: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Flexible study timings — students learn at their own pace, anytime, anywhere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 to a vast library of study materials, recorded lectures, and notes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Ability to re-watch video lectures to reinforce understanding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24×7 teacher support through platform messaging and forums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Cost-effective access to quality education from top educators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Challenges Faced by Students: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Unstable internet connectivity and power outages disrupting sessions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direct face-to-face teacher-student interaction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Difficulty maintaining focus and concentration during long screen hours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problems: slow platforms, login errors, site crashes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availability of devices for students from lower-income backgrounds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65BF605-0A57-465E-A3E1-5D138DDD860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E-learning systems have a significantly positive impact on student performance when platforms are fast, user-friendly, and filled with engaging content.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 benefit from recorded lectures, free content, flexible timings, and self-paced learning — all contributing to improved academic outcomes.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infrastructure remains the biggest challenge — poor internet, device unavailability, and platform crashes hinder the learning experience.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personal teacher interaction is a key concern: reduced doubt-clearing leads to gaps in understanding.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E-learning should be treated as a complementary system to traditional classroom education — not a complete replacement.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implemented effectively, e-learning can: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 flexibility and accessibility of education for all students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 student engagement and participation</a:t>
            </a:r>
          </a:p>
          <a:p>
            <a:pPr marL="914400" lvl="0" indent="-317500">
              <a:buClr>
                <a:srgbClr val="000000"/>
              </a:buClr>
              <a:buSzPts val="1400"/>
              <a:buChar char="○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better academic results alongside regular classes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study provides useful insights for colleges and e-learning platforms to improve their systems and better support students.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B9653EA6-C610-404A-9D32-9C07B752C0FB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S. Alkhalaf, S. Drew, and T. Alhussain (2012). Effectiveness of e-learning systems and impact on learners. Procedia - Social and Behavioral Sciences, 47, 98-104.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W. H. DeLone and E. R. McLean (1992). Information system success model. Information Systems Research, 3(1), 60-95.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G. Gable, D. Sedera, and T. Chan (2008). IS-Impact Measurement Model. Journal of the Association for Information Systems, 9(7), 377-408.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Bhuasiri, Xaymoungkhoun, Zo, Rho and Ciganek (2012). Critical success factors for e-learning in developing countries. Computers &amp; Education, 58(2), 843-855.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Trucano et al. (2012). ICT in Education in South Asia. World Bank.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Wu, Tennyson &amp; Hsia (2010). A study of student satisfaction in a blended e-learning system environment. Computers &amp; Education, 55(1), 155-164.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Chen &amp; Huang (2012). Understanding student attitudes in e-learning. Journal of Educational Technology.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Aixia &amp; Wang (2011). Factors affecting students’ attitude toward e-learning. Journal of Educational Technology, 9(4).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[9] McClelland, D. C. (1961). The Achieving Society. Princeton, NJ: Van Nostrand.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 Google Forms. Online survey tool used for data collection. Available: https://forms.google.com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8AE9DEB-3EE6-4754-A50B-3AC029F41D39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1735</Words>
  <Application>Microsoft Office PowerPoint</Application>
  <PresentationFormat>On-screen Show (4:3)</PresentationFormat>
  <Paragraphs>146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rathore rathore</cp:lastModifiedBy>
  <cp:revision>2299</cp:revision>
  <dcterms:created xsi:type="dcterms:W3CDTF">2010-04-09T07:36:15Z</dcterms:created>
  <dcterms:modified xsi:type="dcterms:W3CDTF">2026-04-28T08:19:48Z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